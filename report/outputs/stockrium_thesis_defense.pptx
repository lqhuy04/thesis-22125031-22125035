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2ac021ce994aae" /><Relationship Type="http://schemas.openxmlformats.org/officeDocument/2006/relationships/extended-properties" Target="/docProps/app.xml" Id="Re491fc8eaaee4ac9" /><Relationship Type="http://schemas.openxmlformats.org/officeDocument/2006/relationships/officeDocument" Target="/ppt/presentation.xml" Id="R4d0c5e3150e04d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23fe39ee8c4417"/>
  </p:sldMasterIdLst>
  <p:notesMasterIdLst>
    <p:notesMasterId xmlns:r="http://schemas.openxmlformats.org/officeDocument/2006/relationships" r:id="Rdae145e5cf39402e"/>
  </p:notesMasterIdLst>
  <p:sldIdLst>
    <p:sldId xmlns:r="http://schemas.openxmlformats.org/officeDocument/2006/relationships" id="256" r:id="Rc5367f6957624c20"/>
    <p:sldId xmlns:r="http://schemas.openxmlformats.org/officeDocument/2006/relationships" id="257" r:id="R8ebb08733ec34dfd"/>
    <p:sldId xmlns:r="http://schemas.openxmlformats.org/officeDocument/2006/relationships" id="258" r:id="R4223a6a12f3a49ad"/>
    <p:sldId xmlns:r="http://schemas.openxmlformats.org/officeDocument/2006/relationships" id="259" r:id="Ra9d86b233cef4324"/>
    <p:sldId xmlns:r="http://schemas.openxmlformats.org/officeDocument/2006/relationships" id="260" r:id="R75190e6058b74773"/>
    <p:sldId xmlns:r="http://schemas.openxmlformats.org/officeDocument/2006/relationships" id="261" r:id="Ra74293673afb4ab1"/>
    <p:sldId xmlns:r="http://schemas.openxmlformats.org/officeDocument/2006/relationships" id="262" r:id="R541a8a64b0184925"/>
    <p:sldId xmlns:r="http://schemas.openxmlformats.org/officeDocument/2006/relationships" id="263" r:id="R65545089a52a46f3"/>
    <p:sldId xmlns:r="http://schemas.openxmlformats.org/officeDocument/2006/relationships" id="264" r:id="R3442802671044195"/>
    <p:sldId xmlns:r="http://schemas.openxmlformats.org/officeDocument/2006/relationships" id="265" r:id="R1aca4084cee948a2"/>
    <p:sldId xmlns:r="http://schemas.openxmlformats.org/officeDocument/2006/relationships" id="266" r:id="R30244989cf864e32"/>
    <p:sldId xmlns:r="http://schemas.openxmlformats.org/officeDocument/2006/relationships" id="267" r:id="R662d062399d9439d"/>
    <p:sldId xmlns:r="http://schemas.openxmlformats.org/officeDocument/2006/relationships" id="268" r:id="R68d5cc907434479e"/>
    <p:sldId xmlns:r="http://schemas.openxmlformats.org/officeDocument/2006/relationships" id="269" r:id="Rbcd043748f3d453c"/>
    <p:sldId xmlns:r="http://schemas.openxmlformats.org/officeDocument/2006/relationships" id="270" r:id="R6cd79bf181cd44ad"/>
    <p:sldId xmlns:r="http://schemas.openxmlformats.org/officeDocument/2006/relationships" id="271" r:id="R71d12b4ac2c043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d7e358e3234c1a" /><Relationship Type="http://schemas.openxmlformats.org/officeDocument/2006/relationships/slideMaster" Target="/ppt/slideMasters/slideMaster1.xml" Id="Rd323fe39ee8c4417" /><Relationship Type="http://schemas.openxmlformats.org/officeDocument/2006/relationships/notesMaster" Target="/ppt/notesMasters/notesMaster1.xml" Id="Rdae145e5cf39402e" /><Relationship Type="http://schemas.openxmlformats.org/officeDocument/2006/relationships/presProps" Target="/ppt/presProps.xml" Id="R8530e836cd1845b4" /><Relationship Type="http://schemas.openxmlformats.org/officeDocument/2006/relationships/tableStyles" Target="/ppt/tableStyles.xml" Id="R8425c77537db4457" /><Relationship Type="http://schemas.openxmlformats.org/officeDocument/2006/relationships/slide" Target="/ppt/slides/slide1.xml" Id="Rc5367f6957624c20" /><Relationship Type="http://schemas.openxmlformats.org/officeDocument/2006/relationships/slide" Target="/ppt/slides/slide2.xml" Id="R8ebb08733ec34dfd" /><Relationship Type="http://schemas.openxmlformats.org/officeDocument/2006/relationships/slide" Target="/ppt/slides/slide3.xml" Id="R4223a6a12f3a49ad" /><Relationship Type="http://schemas.openxmlformats.org/officeDocument/2006/relationships/slide" Target="/ppt/slides/slide4.xml" Id="Ra9d86b233cef4324" /><Relationship Type="http://schemas.openxmlformats.org/officeDocument/2006/relationships/slide" Target="/ppt/slides/slide5.xml" Id="R75190e6058b74773" /><Relationship Type="http://schemas.openxmlformats.org/officeDocument/2006/relationships/slide" Target="/ppt/slides/slide6.xml" Id="Ra74293673afb4ab1" /><Relationship Type="http://schemas.openxmlformats.org/officeDocument/2006/relationships/slide" Target="/ppt/slides/slide7.xml" Id="R541a8a64b0184925" /><Relationship Type="http://schemas.openxmlformats.org/officeDocument/2006/relationships/slide" Target="/ppt/slides/slide8.xml" Id="R65545089a52a46f3" /><Relationship Type="http://schemas.openxmlformats.org/officeDocument/2006/relationships/slide" Target="/ppt/slides/slide9.xml" Id="R3442802671044195" /><Relationship Type="http://schemas.openxmlformats.org/officeDocument/2006/relationships/slide" Target="/ppt/slides/slide10.xml" Id="R1aca4084cee948a2" /><Relationship Type="http://schemas.openxmlformats.org/officeDocument/2006/relationships/slide" Target="/ppt/slides/slide11.xml" Id="R30244989cf864e32" /><Relationship Type="http://schemas.openxmlformats.org/officeDocument/2006/relationships/slide" Target="/ppt/slides/slide12.xml" Id="R662d062399d9439d" /><Relationship Type="http://schemas.openxmlformats.org/officeDocument/2006/relationships/slide" Target="/ppt/slides/slide13.xml" Id="R68d5cc907434479e" /><Relationship Type="http://schemas.openxmlformats.org/officeDocument/2006/relationships/slide" Target="/ppt/slides/slide14.xml" Id="Rbcd043748f3d453c" /><Relationship Type="http://schemas.openxmlformats.org/officeDocument/2006/relationships/slide" Target="/ppt/slides/slide15.xml" Id="R6cd79bf181cd44ad" /><Relationship Type="http://schemas.openxmlformats.org/officeDocument/2006/relationships/slide" Target="/ppt/slides/slide16.xml" Id="R71d12b4ac2c043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e0c1e1c9614d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5964ea2725425d" /><Relationship Type="http://schemas.openxmlformats.org/officeDocument/2006/relationships/notesMaster" Target="/ppt/notesMasters/notesMaster1.xml" Id="R9f539da315e944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940153836f4660" /><Relationship Type="http://schemas.openxmlformats.org/officeDocument/2006/relationships/notesMaster" Target="/ppt/notesMasters/notesMaster1.xml" Id="R2bfba82c0f4849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1f79379e7c44ae" /><Relationship Type="http://schemas.openxmlformats.org/officeDocument/2006/relationships/notesMaster" Target="/ppt/notesMasters/notesMaster1.xml" Id="R7fac854535ba48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bf3ef3df5e445d" /><Relationship Type="http://schemas.openxmlformats.org/officeDocument/2006/relationships/notesMaster" Target="/ppt/notesMasters/notesMaster1.xml" Id="Rac71f6d05d1f48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a26e7f813348af" /><Relationship Type="http://schemas.openxmlformats.org/officeDocument/2006/relationships/notesMaster" Target="/ppt/notesMasters/notesMaster1.xml" Id="Rc27615ae0fe540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fdf9f6b062456a" /><Relationship Type="http://schemas.openxmlformats.org/officeDocument/2006/relationships/notesMaster" Target="/ppt/notesMasters/notesMaster1.xml" Id="Rf3302f3ee13b4a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f282792ac6447c" /><Relationship Type="http://schemas.openxmlformats.org/officeDocument/2006/relationships/notesMaster" Target="/ppt/notesMasters/notesMaster1.xml" Id="R33ac886e17e645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9a5070cde94cc8" /><Relationship Type="http://schemas.openxmlformats.org/officeDocument/2006/relationships/notesMaster" Target="/ppt/notesMasters/notesMaster1.xml" Id="Ra241d45b925d41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57b01b10114b81" /><Relationship Type="http://schemas.openxmlformats.org/officeDocument/2006/relationships/notesMaster" Target="/ppt/notesMasters/notesMaster1.xml" Id="Ra5b2e878e71e46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3660192a674e57" /><Relationship Type="http://schemas.openxmlformats.org/officeDocument/2006/relationships/notesMaster" Target="/ppt/notesMasters/notesMaster1.xml" Id="R12b04825eb8e40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e8bdb805004b9f" /><Relationship Type="http://schemas.openxmlformats.org/officeDocument/2006/relationships/notesMaster" Target="/ppt/notesMasters/notesMaster1.xml" Id="R09238fab6f814e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7c33e4f99d46f6" /><Relationship Type="http://schemas.openxmlformats.org/officeDocument/2006/relationships/notesMaster" Target="/ppt/notesMasters/notesMaster1.xml" Id="R9368b128d5574d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66f98d28d94136" /><Relationship Type="http://schemas.openxmlformats.org/officeDocument/2006/relationships/notesMaster" Target="/ppt/notesMasters/notesMaster1.xml" Id="R4d41cfad9fe34b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47b4ec931240ad" /><Relationship Type="http://schemas.openxmlformats.org/officeDocument/2006/relationships/notesMaster" Target="/ppt/notesMasters/notesMaster1.xml" Id="R2b16ea7480da445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a04975666245d7" /><Relationship Type="http://schemas.openxmlformats.org/officeDocument/2006/relationships/notesMaster" Target="/ppt/notesMasters/notesMaster1.xml" Id="Rca102689fa784c0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c9b625b2c346c7" /><Relationship Type="http://schemas.openxmlformats.org/officeDocument/2006/relationships/notesMaster" Target="/ppt/notesMasters/notesMaster1.xml" Id="Rb71f2c5e483947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79d8e28b6543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af2a3895b546d1" /><Relationship Type="http://schemas.openxmlformats.org/officeDocument/2006/relationships/slideLayout" Target="/ppt/slideLayouts/slideLayout1.xml" Id="R5bcf2881dde342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cf2881dde342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d31027e31492f" /><Relationship Type="http://schemas.openxmlformats.org/officeDocument/2006/relationships/image" Target="/ppt/media/image.png" Id="R4901e42a5e2e404c" /><Relationship Type="http://schemas.openxmlformats.org/officeDocument/2006/relationships/notesSlide" Target="/ppt/notesSlides/notesSlide1.xml" Id="R8f8fc196bc194e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86f2e421154946" /><Relationship Type="http://schemas.openxmlformats.org/officeDocument/2006/relationships/notesSlide" Target="/ppt/notesSlides/notesSlide2.xml" Id="R5d4b51ba71454b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e623faba64589" /><Relationship Type="http://schemas.openxmlformats.org/officeDocument/2006/relationships/notesSlide" Target="/ppt/notesSlides/notesSlide3.xml" Id="Rf1925792696840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a4ce9b4314b22" /><Relationship Type="http://schemas.openxmlformats.org/officeDocument/2006/relationships/image" Target="/ppt/media/image2.png" Id="R59ed1a7adc8c411f" /><Relationship Type="http://schemas.openxmlformats.org/officeDocument/2006/relationships/image" Target="/ppt/media/image3.png" Id="R889dbad122e646c0" /><Relationship Type="http://schemas.openxmlformats.org/officeDocument/2006/relationships/image" Target="/ppt/media/image4.png" Id="Re6cea124dd5849fc" /><Relationship Type="http://schemas.openxmlformats.org/officeDocument/2006/relationships/notesSlide" Target="/ppt/notesSlides/notesSlide4.xml" Id="R6d9197255c1248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4e7db14c0481c" /><Relationship Type="http://schemas.openxmlformats.org/officeDocument/2006/relationships/image" Target="/ppt/media/image5.png" Id="Rd85354481de74c2f" /><Relationship Type="http://schemas.openxmlformats.org/officeDocument/2006/relationships/image" Target="/ppt/media/image6.png" Id="R1cd26f4306d14461" /><Relationship Type="http://schemas.openxmlformats.org/officeDocument/2006/relationships/image" Target="/ppt/media/image7.png" Id="Rf2f001dbe8ab41c5" /><Relationship Type="http://schemas.openxmlformats.org/officeDocument/2006/relationships/notesSlide" Target="/ppt/notesSlides/notesSlide5.xml" Id="R900c1a524b3f46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f904df1aca4869" /><Relationship Type="http://schemas.openxmlformats.org/officeDocument/2006/relationships/image" Target="/ppt/media/image8.png" Id="R4f70ecb913114e53" /><Relationship Type="http://schemas.openxmlformats.org/officeDocument/2006/relationships/notesSlide" Target="/ppt/notesSlides/notesSlide6.xml" Id="Rbbac3ad9fa9648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05aa14d06493a" /><Relationship Type="http://schemas.openxmlformats.org/officeDocument/2006/relationships/image" Target="/ppt/media/image9.png" Id="Reb16483aeed64bc7" /><Relationship Type="http://schemas.openxmlformats.org/officeDocument/2006/relationships/image" Target="/ppt/media/image10.png" Id="Rbea70240e7674ea2" /><Relationship Type="http://schemas.openxmlformats.org/officeDocument/2006/relationships/image" Target="/ppt/media/image11.png" Id="Re3c1d4b02b83453b" /><Relationship Type="http://schemas.openxmlformats.org/officeDocument/2006/relationships/notesSlide" Target="/ppt/notesSlides/notesSlide7.xml" Id="R968d4e9c274a41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2d62b00a24acd" /><Relationship Type="http://schemas.openxmlformats.org/officeDocument/2006/relationships/notesSlide" Target="/ppt/notesSlides/notesSlide8.xml" Id="Rc39697c557e1498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400a64be6432d" /><Relationship Type="http://schemas.openxmlformats.org/officeDocument/2006/relationships/notesSlide" Target="/ppt/notesSlides/notesSlide9.xml" Id="Rb98cbef2582248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75f391f44468f" /><Relationship Type="http://schemas.openxmlformats.org/officeDocument/2006/relationships/image" Target="/ppt/media/image12.png" Id="R654c762c7c4c497d" /><Relationship Type="http://schemas.openxmlformats.org/officeDocument/2006/relationships/notesSlide" Target="/ppt/notesSlides/notesSlide10.xml" Id="Rb12b912850e841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891e98a5f4eca" /><Relationship Type="http://schemas.openxmlformats.org/officeDocument/2006/relationships/notesSlide" Target="/ppt/notesSlides/notesSlide11.xml" Id="R6955598280bf44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5d839018a492c" /><Relationship Type="http://schemas.openxmlformats.org/officeDocument/2006/relationships/chart" Target="/ppt/slides/charts/chart1.xml" Id="R671b8c52d5384805" /><Relationship Type="http://schemas.openxmlformats.org/officeDocument/2006/relationships/notesSlide" Target="/ppt/notesSlides/notesSlide12.xml" Id="Rb499aa1c29f640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766595ba941d8" /><Relationship Type="http://schemas.openxmlformats.org/officeDocument/2006/relationships/notesSlide" Target="/ppt/notesSlides/notesSlide13.xml" Id="R1183602a61d443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753d3ed4a641fa" /><Relationship Type="http://schemas.openxmlformats.org/officeDocument/2006/relationships/notesSlide" Target="/ppt/notesSlides/notesSlide14.xml" Id="Rc9978bb86dd24d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a880e39c74cee" /><Relationship Type="http://schemas.openxmlformats.org/officeDocument/2006/relationships/notesSlide" Target="/ppt/notesSlides/notesSlide15.xml" Id="Ra23dcd3af76645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a36559b1b4830" /><Relationship Type="http://schemas.openxmlformats.org/officeDocument/2006/relationships/notesSlide" Target="/ppt/notesSlides/notesSlide16.xml" Id="R226411b2ee0e4a0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Engine-only</c:v>
          </c:tx>
          <c:spPr>
            <a:solidFill xmlns:a="http://schemas.openxmlformats.org/drawingml/2006/main">
              <a:srgbClr val="A7ADB8"/>
            </a:solidFill>
          </c:spPr>
          <c:cat>
            <c:strLit>
              <c:ptCount val="3"/>
              <c:pt idx="0">
                <c:v>Mean return</c:v>
              </c:pt>
              <c:pt idx="1">
                <c:v>Max DD |%|</c:v>
              </c:pt>
              <c:pt idx="2">
                <c:v>Win rate</c:v>
              </c:pt>
            </c:strLit>
          </c:cat>
          <c:val>
            <c:numLit>
              <c:formatCode>General</c:formatCode>
              <c:ptCount val="3"/>
              <c:pt idx="0">
                <c:v>49.27</c:v>
              </c:pt>
              <c:pt idx="1">
                <c:v>25.69</c:v>
              </c:pt>
              <c:pt idx="2">
                <c:v>53.01</c:v>
              </c:pt>
            </c:numLit>
          </c:val>
        </c:ser>
        <c:ser>
          <c:idx val="1"/>
          <c:order val="1"/>
          <c:tx>
            <c:v>Full pipeline</c:v>
          </c:tx>
          <c:spPr>
            <a:solidFill xmlns:a="http://schemas.openxmlformats.org/drawingml/2006/main">
              <a:srgbClr val="7C3AED"/>
            </a:solidFill>
          </c:spPr>
          <c:cat>
            <c:strLit>
              <c:ptCount val="3"/>
              <c:pt idx="0">
                <c:v>Mean return</c:v>
              </c:pt>
              <c:pt idx="1">
                <c:v>Max DD |%|</c:v>
              </c:pt>
              <c:pt idx="2">
                <c:v>Win rate</c:v>
              </c:pt>
            </c:strLit>
          </c:cat>
          <c:val>
            <c:numLit>
              <c:formatCode>General</c:formatCode>
              <c:ptCount val="3"/>
              <c:pt idx="0">
                <c:v>33</c:v>
              </c:pt>
              <c:pt idx="1">
                <c:v>16.66</c:v>
              </c:pt>
              <c:pt idx="2">
                <c:v>50.55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D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F2F3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17ED6-A350-43C3-BA1D-E8C96CC3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EFE9FF"/>
          </a:solidFill>
          <a:ln xmlns:a="http://schemas.openxmlformats.org/drawingml/2006/main" w="0">
            <a:solidFill>
              <a:srgbClr val="EFE9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2F3D8-0F9B-4CD5-8F92-D0036415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BACHELOR THESIS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FCF40-2510-432B-97BD-A89B2122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04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6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STOCKRIUM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C2681-9791-4AD2-9F49-9887681E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38375"/>
            <a:ext cx="6858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Hệ thống Agentic AI phân tích và tổng hợp dữ liệu thị trường tài chính Việt Nam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552450" y="397192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7C3AED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D5824-8753-4F6D-86B8-D6D17748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Le Quoc Huy · 22125031</a:t>
            </a:r>
          </a:p>
          <a:p xmlns:a="http://schemas.openxmlformats.org/drawingml/2006/main">
            <a:pPr algn="l">
              <a:defRPr sz="15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Nguyen Vinh Khang · 22125035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B9EEF-BDFE-4FFC-B644-7539337F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GVHD: Dr. Nguyen Thi Minh Tuyen</a:t>
            </a:r>
          </a:p>
          <a:p xmlns:a="http://schemas.openxmlformats.org/drawingml/2006/main">
            <a:pPr algn="l">
              <a:defRPr sz="13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Advanced Program in Computer Science · University of Science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8C513-0327-4B0A-BC4F-4DC9939C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47700"/>
            <a:ext cx="2381250" cy="5334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B1325"/>
          </a:solidFill>
          <a:ln xmlns:a="http://schemas.openxmlformats.org/drawingml/2006/main" w="0">
            <a:solidFill>
              <a:srgbClr val="0B132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1e42a5e2e404c"/>
          <a:srcRect xmlns:a="http://schemas.openxmlformats.org/drawingml/2006/main" l="1744" t="0" r="17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48750" y="704850"/>
            <a:ext cx="2266950" cy="5219700"/>
          </a:xfrm>
          <a:prstGeom xmlns:a="http://schemas.openxmlformats.org/drawingml/2006/main" prst="roundRect">
            <a:avLst>
              <a:gd name="adj" fmla="val 5042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E3533-8AC4-4FD4-AD5D-2A5B8FC1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61912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Decision support, not trade execution</a:t>
            </a:r>
          </a:p>
        </p:txBody>
      </p:sp>
    </p:spTree>
    <p:extLst>
      <p:ext uri="{BB962C8B-B14F-4D97-AF65-F5344CB8AC3E}">
        <p14:creationId xmlns:p14="http://schemas.microsoft.com/office/powerpoint/2010/main" val="13802242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072F9A-35C7-42B9-AFD5-235944D3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BÀI TOÁN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7860E6-97A5-4911-B8C0-1F2DFBCD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11,9 triệu tài khoản, dữ liệu vẫn phân mảnh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CF3D8-175B-439D-B249-CD44CD55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919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A919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72989-D737-4A1A-86E7-32724A64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Tiếp cận giao dịch tăng nhanh không đồng nghĩa với khả năng tổng hợp bằng chứng và ra quyết định có kỷ luật.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B1523-E13F-422A-A28C-2910AD8C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591BB-209E-4614-B6C1-CAFF7ADE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Kỹ thuật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97A37-2F1F-44AF-8E78-B817FDAE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05150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Giá, khối lượng, RSI, MA, Bollinger, MACD, KDJ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48125" y="2095500"/>
            <a:ext cx="0" cy="2076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48CF3-47B7-4383-9D31-100B115E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38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8761C-4262-488C-B7FF-72187BFA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95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Cơ bản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A43AE5-1482-4E93-8F03-F9AA96EA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05150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Báo cáo tài chính, tỷ số, tăng trưởng, so sánh ngành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7867650" y="2095500"/>
            <a:ext cx="0" cy="2076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CC0ED-760C-4440-9543-12F4FCA4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2F805-1776-4183-B106-0A901240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955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Tin tức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300E7D-BC6B-4638-8BF8-6B7309E8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05150"/>
            <a:ext cx="319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Bài báo rời rạc, mức độ liên quan và tác động khó đánh giá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542D2-EC9F-4383-9B80-8E63AFE3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619625"/>
            <a:ext cx="112014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FE9FF"/>
          </a:solidFill>
          <a:ln xmlns:a="http://schemas.openxmlformats.org/drawingml/2006/main" w="0">
            <a:solidFill>
              <a:srgbClr val="EFE9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177E31-B59E-4685-B441-9314395F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Khoảng trống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BF632-2707-46E4-9BBD-E6A34235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3434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Một môi trường tích hợp ba góc nhìn, giải thích được kết luận và cho phép kiểm tra bằng chứng.</a:t>
            </a:r>
          </a:p>
        </p:txBody>
      </p:sp>
    </p:spTree>
    <p:extLst>
      <p:ext uri="{BB962C8B-B14F-4D97-AF65-F5344CB8AC3E}">
        <p14:creationId xmlns:p14="http://schemas.microsoft.com/office/powerpoint/2010/main" val="13860156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EDB7F7-AB32-4B3C-B12E-13C7DC60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MỤC TIÊU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18322-0E9F-4AB3-BCD1-E3508824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Ba mục tiêu định hình Stockrium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D49BB6-B376-4C0B-BDA9-9F16393C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919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A919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77C24-5708-431D-A796-AE69C729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90625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Sản phẩm phục vụ đồng thời nhu cầu sử dụng, đánh giá hệ thống và chuẩn hóa dữ liệu nghiên cứu.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3952E-2A6A-4031-BB84-89EB7612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O1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3B124-A6E6-42AD-826D-6B0E8C71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Ứng dụng hỗ trợ quyết định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5C385-4261-4C5E-8E0E-740FB84B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9570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Kết hợp kỹ thuật, cơ bản và tin tức; giải thích theo kỳ đầu tư.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4076700" y="2095500"/>
            <a:ext cx="0" cy="2495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8A2B9-EFBB-493A-9DCA-5BB3EE92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O2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FD169-C3FC-48EC-83E0-7111BB54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Backtesting nội bộ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94274-0047-4008-882A-65E46FA5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9570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Đo hành vi pipeline, so sánh baseline và kiểm tra rủi ro.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7886700" y="2095500"/>
            <a:ext cx="0" cy="2495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1CBBF-C9F5-4091-B94A-88863F8D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955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O3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0DA8D-8B22-405A-A5CA-81E50FD7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Dữ liệu nghiên cứu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9ED76-350E-4488-A7BC-07219C78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OHLCV, dữ liệu doanh nghiệp và tin tức có nhãn cảm xúc.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95300" y="51054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74C160-B7B5-4874-A661-CBD8F721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34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PHẠM VI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63EA1-8CF7-4878-9F25-B8C2469D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959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Cổ phiếu Việt Nam · Mobile cho nhà đầu tư · Web nội bộ cho admin · Không đặt lệnh, không kết nối môi giới, không bảo đảm lợi nhuận</a:t>
            </a:r>
          </a:p>
        </p:txBody>
      </p:sp>
    </p:spTree>
    <p:extLst>
      <p:ext uri="{BB962C8B-B14F-4D97-AF65-F5344CB8AC3E}">
        <p14:creationId xmlns:p14="http://schemas.microsoft.com/office/powerpoint/2010/main" val="17385261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1289F-043E-4A0C-9E67-182378B3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SẢN PHẨM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D302F-AD7C-41F7-92F8-2C5A0425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Một hành trình liền mạch trong Stockrium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21AC7-15FD-4768-908D-1C28E9C1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919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A919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BC103A-7237-4560-85AA-3DE801E0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Thay vì chuyển qua nhiều nền tảng, nhà đầu tư giữ nguyên ngữ cảnh của mã cổ phiếu trong một ứng dụng.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F82F7-EE6B-4AE4-9144-D827A596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14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Khám phá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77392-3A30-40E2-B5B9-2DBA79B8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Theo dõi chỉ số, ý tưởng và biến động ngành.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F5154-E2FB-4F38-ACDD-208B40EB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Kiểm chứng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53C00-C507-46BB-B7CF-E81E6758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Đi sâu vào giá, chỉ báo, doanh nghiệp và tin tức liên quan.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A1F52-3D3F-4C2E-A895-0DB15411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Tiếp tục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A9696-03A0-45E2-979C-5CCA3284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Lưu watchlist, phân tích AI hoặc hỏi tiếp theo ngữ cảnh.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C58B1C-6102-46AA-B405-1174BB2D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628775"/>
            <a:ext cx="2152650" cy="46672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0B1325"/>
          </a:solidFill>
          <a:ln xmlns:a="http://schemas.openxmlformats.org/drawingml/2006/main" w="0">
            <a:solidFill>
              <a:srgbClr val="0B132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ed1a7adc8c41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1676400"/>
            <a:ext cx="2057400" cy="4572000"/>
          </a:xfrm>
          <a:prstGeom xmlns:a="http://schemas.openxmlformats.org/drawingml/2006/main" prst="roundRect">
            <a:avLst>
              <a:gd name="adj" fmla="val 370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44E5E-153B-435E-B151-2946691F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628775"/>
            <a:ext cx="2152650" cy="46672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0B1325"/>
          </a:solidFill>
          <a:ln xmlns:a="http://schemas.openxmlformats.org/drawingml/2006/main" w="0">
            <a:solidFill>
              <a:srgbClr val="0B132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dbad122e646c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1676400"/>
            <a:ext cx="2057400" cy="4572000"/>
          </a:xfrm>
          <a:prstGeom xmlns:a="http://schemas.openxmlformats.org/drawingml/2006/main" prst="roundRect">
            <a:avLst>
              <a:gd name="adj" fmla="val 3704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03DDA-E78F-439C-8197-D38EB068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628775"/>
            <a:ext cx="2152650" cy="4667250"/>
          </a:xfrm>
          <a:prstGeom xmlns:a="http://schemas.openxmlformats.org/drawingml/2006/main" prst="roundRect">
            <a:avLst>
              <a:gd name="adj" fmla="val 5310"/>
            </a:avLst>
          </a:prstGeom>
          <a:solidFill xmlns:a="http://schemas.openxmlformats.org/drawingml/2006/main">
            <a:srgbClr val="0B1325"/>
          </a:solidFill>
          <a:ln xmlns:a="http://schemas.openxmlformats.org/drawingml/2006/main" w="0">
            <a:solidFill>
              <a:srgbClr val="0B132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ea124dd5849f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05950" y="1676400"/>
            <a:ext cx="2057400" cy="4572000"/>
          </a:xfrm>
          <a:prstGeom xmlns:a="http://schemas.openxmlformats.org/drawingml/2006/main" prst="roundRect">
            <a:avLst>
              <a:gd name="adj" fmla="val 3704"/>
            </a:avLst>
          </a:prstGeom>
        </p:spPr>
      </p:pic>
    </p:spTree>
    <p:extLst>
      <p:ext uri="{BB962C8B-B14F-4D97-AF65-F5344CB8AC3E}">
        <p14:creationId xmlns:p14="http://schemas.microsoft.com/office/powerpoint/2010/main" val="12010598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D1BB3A-A1C2-47EB-B7B8-2F8963A7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AGENTIC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E3059-2B6F-492C-AEFD-E9AB77FB5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Phân tích thay đổi theo mục tiêu của người dùng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AAEAD-D01A-47F9-8AEF-3365751D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919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A919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2A2D2-7BDF-4D76-B045-7C4FD9E7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Cùng một kiến trúc, nhưng kỳ đầu tư, nguồn bằng chứng và trọng số có thể được cấu hình rõ ràng.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AC652-A74E-4FD0-968D-68DF0176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19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B1431-8B08-4BDA-856C-1AA60C97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66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Chọn kỳ đầu tư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FD1D53-978C-4F2C-AEF4-F254CE2C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19325"/>
            <a:ext cx="2057400" cy="40195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1325"/>
          </a:solidFill>
          <a:ln xmlns:a="http://schemas.openxmlformats.org/drawingml/2006/main" w="0">
            <a:solidFill>
              <a:srgbClr val="0B132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354481de74c2f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4850" y="2266950"/>
            <a:ext cx="1962150" cy="3924300"/>
          </a:xfrm>
          <a:prstGeom xmlns:a="http://schemas.openxmlformats.org/drawingml/2006/main" prst="roundRect">
            <a:avLst>
              <a:gd name="adj" fmla="val 388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5D901-DA3C-4D2E-8ACA-206003AF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19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49E7F4-F90F-45D2-976C-FA9FB43C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66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Chọn bằng chứng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CE389-C9EB-47B2-8999-AAF8EA4B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219325"/>
            <a:ext cx="2057400" cy="40195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1325"/>
          </a:solidFill>
          <a:ln xmlns:a="http://schemas.openxmlformats.org/drawingml/2006/main" w="0">
            <a:solidFill>
              <a:srgbClr val="0B132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26f4306d14461"/>
          <a:srcRect xmlns:a="http://schemas.openxmlformats.org/drawingml/2006/main" l="0" t="5000" r="0" b="5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2266950"/>
            <a:ext cx="1962150" cy="3924300"/>
          </a:xfrm>
          <a:prstGeom xmlns:a="http://schemas.openxmlformats.org/drawingml/2006/main" prst="roundRect">
            <a:avLst>
              <a:gd name="adj" fmla="val 388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9B7C6-9A92-491A-95AA-CDA2302E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9B3A7-58D7-4FDA-BF5C-95AC37BF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669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Nhận kết quả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654634-3DFB-44EE-B017-444020A4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219325"/>
            <a:ext cx="2057400" cy="401955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1325"/>
          </a:solidFill>
          <a:ln xmlns:a="http://schemas.openxmlformats.org/drawingml/2006/main" w="0">
            <a:solidFill>
              <a:srgbClr val="0B132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001dbe8ab41c5"/>
          <a:srcRect xmlns:a="http://schemas.openxmlformats.org/drawingml/2006/main" l="0" t="3175" r="0" b="31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20250" y="2266950"/>
            <a:ext cx="1962150" cy="3924300"/>
          </a:xfrm>
          <a:prstGeom xmlns:a="http://schemas.openxmlformats.org/drawingml/2006/main" prst="roundRect">
            <a:avLst>
              <a:gd name="adj" fmla="val 3883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44351-036F-4C41-9C8C-E423DB4B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542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Một kết quả tốt phải trả lời được ba câu hỏi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AE02B-F5D7-4527-860F-663B2F98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6964C-1ADC-45F5-B60A-CE55F990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Bằng chứng nào đang được dùng?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6A4958-8196-4E80-8F56-51AEDD9F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62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ABD4B9-DE5F-421D-95E5-7C2B3FAA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86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Kết luận được hình thành như thế nào?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86ECE2-5DD4-461A-AD82-47C0B904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4ECFDA-A00C-4780-AE78-FF559D64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Quy tắc nào có thể chặn một quyết định Buy?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47087E-FBC3-4623-8A58-0749472C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816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Kết quả hỗ trợ phán đoán; không tự động đặt lệnh.</a:t>
            </a:r>
          </a:p>
        </p:txBody>
      </p:sp>
    </p:spTree>
    <p:extLst>
      <p:ext uri="{BB962C8B-B14F-4D97-AF65-F5344CB8AC3E}">
        <p14:creationId xmlns:p14="http://schemas.microsoft.com/office/powerpoint/2010/main" val="20097563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C41F5-75BE-41A4-B5AC-EA2BA86A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KIẾN TRÚC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FA6A6-BCB6-4BCE-8A00-AE6C5E96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Stockrium tách rõ giao diện, trí tuệ và dữ liệu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E67CE-2C36-4A41-916D-8A795510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919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A919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01BC8-E781-4CEA-AA1C-3DD8B502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React Native/Expo · FastAPI · LangGraph · Supabase PostgreSQL/Storage · Redis · SSI và nguồn tin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7B6F69-8B0D-4016-BC61-C9972953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11201400" cy="4552950"/>
          </a:xfrm>
          <a:prstGeom xmlns:a="http://schemas.openxmlformats.org/drawingml/2006/main" prst="roundRect">
            <a:avLst>
              <a:gd name="adj" fmla="val 2510"/>
            </a:avLst>
          </a:prstGeom>
          <a:solidFill xmlns:a="http://schemas.openxmlformats.org/drawingml/2006/main">
            <a:srgbClr val="F8F8F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70ecb913114e53"/>
          <a:stretch xmlns:a="http://schemas.openxmlformats.org/drawingml/2006/main"/>
        </p:blipFill>
        <p:spPr>
          <a:xfrm xmlns:a="http://schemas.openxmlformats.org/drawingml/2006/main">
            <a:off x="1909362" y="1752600"/>
            <a:ext cx="8373276" cy="4267200"/>
          </a:xfrm>
          <a:prstGeom xmlns:a="http://schemas.openxmlformats.org/drawingml/2006/main" prst="roundRect">
            <a:avLst>
              <a:gd name="adj" fmla="val 2679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A957C-1A26-4C4B-B444-072D4C32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Clients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DD8BE2-D987-4F99-8583-9E78B83C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6153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A66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8A66A"/>
                </a:solidFill>
                <a:latin typeface="Arial"/>
                <a:ea typeface="Arial"/>
                <a:cs typeface="Arial"/>
              </a:rPr>
              <a:t>Services &amp;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F3639-D305-47F5-A331-D01DE4B6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1531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97706"/>
                </a:solidFill>
                <a:latin typeface="Arial"/>
                <a:ea typeface="Arial"/>
                <a:cs typeface="Arial"/>
              </a:rPr>
              <a:t>Data &amp; providers</a:t>
            </a:r>
          </a:p>
        </p:txBody>
      </p:sp>
    </p:spTree>
    <p:extLst>
      <p:ext uri="{BB962C8B-B14F-4D97-AF65-F5344CB8AC3E}">
        <p14:creationId xmlns:p14="http://schemas.microsoft.com/office/powerpoint/2010/main" val="11104171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345AA-0E83-4CD2-A4F7-017BAB54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40A12-6CD9-45F5-B575-E965AFA3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Ba pipeline, một mô hình dữ liệu dùng chung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AB6A1-8D50-48F6-8B96-ED9A3B8A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919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A919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5FD22-117C-4DDE-B4F1-B822BD10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Dữ liệu được thu thập, chuẩn hóa và lưu trước khi phục vụ ứng dụng, Agentic AI và backtesting.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70CCA-604E-4CCF-B0CE-E15345F1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24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3D7DFE-6B5F-4D3F-ADC8-D730273E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Thị trường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1A9D1-F8A1-48C7-A114-E5266A22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Backfill, WebSocket và reconciliation sau phiên.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6483aeed64bc7"/>
          <a:stretch xmlns:a="http://schemas.openxmlformats.org/drawingml/2006/main"/>
        </p:blipFill>
        <p:spPr>
          <a:xfrm xmlns:a="http://schemas.openxmlformats.org/drawingml/2006/main">
            <a:off x="495300" y="3421554"/>
            <a:ext cx="3333750" cy="2415193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cxnSp>
        <p:nvCxnSpPr>
          <p:cNvPr id="27" name=""/>
          <p:cNvCxnSpPr/>
          <p:nvPr/>
        </p:nvCxnSpPr>
        <p:spPr>
          <a:xfrm xmlns:a="http://schemas.openxmlformats.org/drawingml/2006/main">
            <a:off x="4076700" y="1866900"/>
            <a:ext cx="0" cy="4000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DA459-8A5C-49EF-B08F-E3504257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8C4DC-DB93-47AE-B601-F86DF0C7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Doanh nghiệp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CFDC1-18D0-422F-8264-89EB78D4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Selenium/Excel, pandas, tỷ số và median ngành.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a70240e7674ea2"/>
          <a:stretch xmlns:a="http://schemas.openxmlformats.org/drawingml/2006/main"/>
        </p:blipFill>
        <p:spPr>
          <a:xfrm xmlns:a="http://schemas.openxmlformats.org/drawingml/2006/main">
            <a:off x="4568021" y="3390900"/>
            <a:ext cx="2808309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cxnSp>
        <p:nvCxnSpPr>
          <p:cNvPr id="32" name=""/>
          <p:cNvCxnSpPr/>
          <p:nvPr/>
        </p:nvCxnSpPr>
        <p:spPr>
          <a:xfrm xmlns:a="http://schemas.openxmlformats.org/drawingml/2006/main">
            <a:off x="7886700" y="1866900"/>
            <a:ext cx="0" cy="4000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5400D8-7BAB-4700-8E19-86E90B95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24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FE9614-1FB7-43F4-A81E-94DECA90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Tin tức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F357C4-9530-4ACB-B2A7-D0037B98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Tìm kiếm, trích xuất, khử trùng, tóm tắt và sentiment.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1d4b02b83453b"/>
          <a:stretch xmlns:a="http://schemas.openxmlformats.org/drawingml/2006/main"/>
        </p:blipFill>
        <p:spPr>
          <a:xfrm xmlns:a="http://schemas.openxmlformats.org/drawingml/2006/main">
            <a:off x="8297782" y="3390900"/>
            <a:ext cx="2968786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</p:spTree>
    <p:extLst>
      <p:ext uri="{BB962C8B-B14F-4D97-AF65-F5344CB8AC3E}">
        <p14:creationId xmlns:p14="http://schemas.microsoft.com/office/powerpoint/2010/main" val="7288638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18948F9-8B22-4EC4-AB2B-1BC3A857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THIẾT KẾ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DFD5E-34A6-4CD1-9785-54CD73E6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LLM diễn giải, Python kiểm soát quyết định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5FFE4-EDB9-48B2-9083-1A69AB4E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919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A919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F8C64-34F2-4C58-9356-7C1D3AD3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Workflow là một state graph có các nhánh chuyên biệt, không phải một prompt đơn khối.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1857375" y="31623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DD4"/>
            </a:solidFill>
            <a:prstDash val="solid"/>
          </a:ln>
        </p:spPr>
      </p:cxnSp>
      <p:cxnSp>
        <p:nvCxnSpPr>
          <p:cNvPr id="58" name=""/>
          <p:cNvCxnSpPr/>
          <p:nvPr/>
        </p:nvCxnSpPr>
        <p:spPr>
          <a:xfrm xmlns:a="http://schemas.openxmlformats.org/drawingml/2006/main">
            <a:off x="361950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DD4"/>
            </a:solidFill>
            <a:prstDash val="solid"/>
          </a:ln>
        </p:spPr>
      </p:cxnSp>
      <p:cxnSp>
        <p:nvCxnSpPr>
          <p:cNvPr id="59" name=""/>
          <p:cNvCxnSpPr/>
          <p:nvPr/>
        </p:nvCxnSpPr>
        <p:spPr>
          <a:xfrm xmlns:a="http://schemas.openxmlformats.org/drawingml/2006/main">
            <a:off x="4000500" y="2133600"/>
            <a:ext cx="0" cy="2057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DD4"/>
            </a:solidFill>
            <a:prstDash val="solid"/>
          </a:ln>
        </p:spPr>
      </p:cxnSp>
      <p:cxnSp>
        <p:nvCxnSpPr>
          <p:cNvPr id="60" name=""/>
          <p:cNvCxnSpPr/>
          <p:nvPr/>
        </p:nvCxnSpPr>
        <p:spPr>
          <a:xfrm xmlns:a="http://schemas.openxmlformats.org/drawingml/2006/main">
            <a:off x="4000500" y="21336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DD4"/>
            </a:solidFill>
            <a:prstDash val="solid"/>
          </a:ln>
        </p:spPr>
      </p:cxnSp>
      <p:cxnSp>
        <p:nvCxnSpPr>
          <p:cNvPr id="61" name=""/>
          <p:cNvCxnSpPr/>
          <p:nvPr/>
        </p:nvCxnSpPr>
        <p:spPr>
          <a:xfrm xmlns:a="http://schemas.openxmlformats.org/drawingml/2006/main">
            <a:off x="4000500" y="31623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DD4"/>
            </a:solidFill>
            <a:prstDash val="solid"/>
          </a:ln>
        </p:spPr>
      </p:cxnSp>
      <p:cxnSp>
        <p:nvCxnSpPr>
          <p:cNvPr id="62" name=""/>
          <p:cNvCxnSpPr/>
          <p:nvPr/>
        </p:nvCxnSpPr>
        <p:spPr>
          <a:xfrm xmlns:a="http://schemas.openxmlformats.org/drawingml/2006/main">
            <a:off x="4000500" y="41910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DD4"/>
            </a:solidFill>
            <a:prstDash val="solid"/>
          </a:ln>
        </p:spPr>
      </p:cxnSp>
      <p:cxnSp>
        <p:nvCxnSpPr>
          <p:cNvPr id="63" name=""/>
          <p:cNvCxnSpPr/>
          <p:nvPr/>
        </p:nvCxnSpPr>
        <p:spPr>
          <a:xfrm xmlns:a="http://schemas.openxmlformats.org/drawingml/2006/main">
            <a:off x="6381750" y="21336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DD4"/>
            </a:solidFill>
            <a:prstDash val="solid"/>
          </a:ln>
        </p:spPr>
      </p:cxnSp>
      <p:cxnSp>
        <p:nvCxnSpPr>
          <p:cNvPr id="64" name=""/>
          <p:cNvCxnSpPr/>
          <p:nvPr/>
        </p:nvCxnSpPr>
        <p:spPr>
          <a:xfrm xmlns:a="http://schemas.openxmlformats.org/drawingml/2006/main">
            <a:off x="6381750" y="31623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DD4"/>
            </a:solidFill>
            <a:prstDash val="solid"/>
          </a:ln>
        </p:spPr>
      </p:cxnSp>
      <p:cxnSp>
        <p:nvCxnSpPr>
          <p:cNvPr id="65" name=""/>
          <p:cNvCxnSpPr/>
          <p:nvPr/>
        </p:nvCxnSpPr>
        <p:spPr>
          <a:xfrm xmlns:a="http://schemas.openxmlformats.org/drawingml/2006/main">
            <a:off x="6381750" y="41910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DD4"/>
            </a:solidFill>
            <a:prstDash val="solid"/>
          </a:ln>
        </p:spPr>
      </p:cxnSp>
      <p:cxnSp>
        <p:nvCxnSpPr>
          <p:cNvPr id="66" name=""/>
          <p:cNvCxnSpPr/>
          <p:nvPr/>
        </p:nvCxnSpPr>
        <p:spPr>
          <a:xfrm xmlns:a="http://schemas.openxmlformats.org/drawingml/2006/main">
            <a:off x="6667500" y="2133600"/>
            <a:ext cx="0" cy="2057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DD4"/>
            </a:solidFill>
            <a:prstDash val="solid"/>
          </a:ln>
        </p:spPr>
      </p:cxnSp>
      <p:cxnSp>
        <p:nvCxnSpPr>
          <p:cNvPr id="67" name=""/>
          <p:cNvCxnSpPr/>
          <p:nvPr/>
        </p:nvCxnSpPr>
        <p:spPr>
          <a:xfrm xmlns:a="http://schemas.openxmlformats.org/drawingml/2006/main">
            <a:off x="6667500" y="316230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DD4"/>
            </a:solidFill>
            <a:prstDash val="solid"/>
          </a:ln>
        </p:spPr>
      </p:cxnSp>
      <p:cxnSp>
        <p:nvCxnSpPr>
          <p:cNvPr id="68" name=""/>
          <p:cNvCxnSpPr/>
          <p:nvPr/>
        </p:nvCxnSpPr>
        <p:spPr>
          <a:xfrm xmlns:a="http://schemas.openxmlformats.org/drawingml/2006/main">
            <a:off x="828675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DD4"/>
            </a:solidFill>
            <a:prstDash val="solid"/>
          </a:ln>
        </p:spPr>
      </p:cxnSp>
      <p:cxnSp>
        <p:nvCxnSpPr>
          <p:cNvPr id="69" name=""/>
          <p:cNvCxnSpPr/>
          <p:nvPr/>
        </p:nvCxnSpPr>
        <p:spPr>
          <a:xfrm xmlns:a="http://schemas.openxmlformats.org/drawingml/2006/main">
            <a:off x="10191750" y="31623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DD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02FAF4-4392-4184-9C46-C677F76A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47950"/>
            <a:ext cx="13811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EB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333E4-76DF-47A4-A71E-DFFF287D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114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86890-E69C-4432-8F80-AB8B550F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114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63271-E6FB-49A9-9D56-688C89CB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114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884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Mã, horizon, nguồn và trọng số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CEB766-5D53-4968-950A-E274E9B9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47950"/>
            <a:ext cx="1428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FE9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9FBE0E-5C52-4B88-9ED2-1CE145CF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622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0F31E6-D9D3-4D40-895B-A5DC0B76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Orchestrator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C40E83-78A5-4826-A3C4-3F878BD6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28975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Lập khoảng thời gian và kế hoạch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4BBF0C-8D0D-4019-8127-14F7A6C8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1450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8F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5F4458-0BB6-4CF4-9531-14D14C45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2880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LLM + FILTER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4EDAEE-A604-4733-87D3-C35158F0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193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Article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6AA19A-76D9-4A89-A6CA-0B89D5FF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9552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Lọc và tóm tắt tin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DA5B8F-981A-48B8-825A-05B5B48C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4320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8F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BFD28B-D764-4CB2-BFD5-80EED154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7538BD-9374-4E76-B8F8-64FB1615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480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Fundamental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8ADA00-F46C-4F4F-BB62-4F926233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2422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5 năm, CAGR, ngành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0903C4-047A-4019-AC8C-D451059A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71900"/>
            <a:ext cx="2095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8F8F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D1A78E-F20C-4DA9-95F2-02AD3F57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886200"/>
            <a:ext cx="1828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DETERMINISTIC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304EBC-882B-4D16-8A46-9D598847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76700"/>
            <a:ext cx="1828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052D1C-4927-4076-804A-BE8F377D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52925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84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Indicators và điểm nhị phân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321F36-4256-48F7-B9F5-2A40D406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47950"/>
            <a:ext cx="1428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FE9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9CBD0D-38BC-4638-96D3-6437AA84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762250"/>
            <a:ext cx="1162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6C49AE-4C81-431F-AF3B-1BC3D6A9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5275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Aggregator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FBA017-E5CA-4391-9BA2-79A17F22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28975"/>
            <a:ext cx="1162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Tổng hợp có cấu trúc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FE9637-CE36-473F-AF3B-3C045C27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1524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3E4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27A8AE-E3FA-4704-B61A-E7BFB809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622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D56CD1-19BA-42C4-90B4-FBECC29E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CA8BB9-11C9-424D-B224-8ED20D62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28975"/>
            <a:ext cx="1257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Confidence, veto, bounds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FE9B67-959E-44AA-B7B6-AADF89EB7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47950"/>
            <a:ext cx="1143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9525">
            <a:solidFill>
              <a:srgbClr val="18A66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92B4BB6-3249-400F-929B-D3702B2D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762250"/>
            <a:ext cx="876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381022-564B-4DDD-9CF1-5290FD39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9527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Buy / Wait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8B3371-E604-40BC-9E2A-5FE903D3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22897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Kết quả có thể kiểm tra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C16B39-7406-44DC-9188-9F620B30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105400"/>
            <a:ext cx="80010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83746F-DF62-4F1A-A390-8A5B7C85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86375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Shared AgentState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27B5C6-5B94-444A-B62A-0B6C2AB5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86375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plan · agent_results · final_output · error</a:t>
            </a:r>
          </a:p>
        </p:txBody>
      </p:sp>
    </p:spTree>
    <p:extLst>
      <p:ext uri="{BB962C8B-B14F-4D97-AF65-F5344CB8AC3E}">
        <p14:creationId xmlns:p14="http://schemas.microsoft.com/office/powerpoint/2010/main" val="2998074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F6C7643-7AE1-433E-8D8F-93181EE4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KIỂM SOÁT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EAA9F-EDBC-491D-811E-22584F66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LLM đề xuất; Python có quyền nói “Chờ”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4D0407-4A05-42B7-A196-D3C6FDCD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919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A919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F16B4-F168-46A1-B612-628B12A6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Trọng số thay đổi theo kỳ đầu tư; nguồn không hoạt động được loại bỏ và tái chuẩn hóa.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A55EE-6A64-4278-B84B-DAAFF234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288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Trọng số mặc định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43D0E-1D51-48C3-85EB-740464EA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050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28A65A-6546-485C-918E-5BD0362B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Kỹ thuật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11B0B5-D3AB-434E-811B-46F18589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3050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325"/>
          </a:solidFill>
          <a:ln xmlns:a="http://schemas.openxmlformats.org/drawingml/2006/main" w="0">
            <a:solidFill>
              <a:srgbClr val="0B132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D3C1F-0F81-474F-B165-B3648E52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86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Cơ bản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E18B9B-1F30-4DA8-9795-951761B8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3050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4AC73-9862-48E7-A58B-62855F95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86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Tin tức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2EACFB-10B9-4310-B77B-0716A712F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71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Ngắn hạn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0C92F-A4E1-452A-8B9B-D5F1A7A2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25146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4ECA5-C585-4DD6-9A83-CC2E97C5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0375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A5F3A7-D563-4625-80EC-4156E9F5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419100" cy="4953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1325"/>
          </a:solidFill>
          <a:ln xmlns:a="http://schemas.openxmlformats.org/drawingml/2006/main" w="0">
            <a:solidFill>
              <a:srgbClr val="0B132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A5110-951A-45FD-B60D-0A64BB9F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03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7F529C-06B0-4AB0-B5B5-744A088F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57500"/>
            <a:ext cx="12573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650187-A484-4360-91C3-FC018C52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0037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A99592-4660-44A0-9FFC-C84616C6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481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Trung hạn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DF54F-237B-4B29-9F0D-23577F36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33800"/>
            <a:ext cx="16764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CD02AB-5DC5-4C14-A512-C1F69A91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7667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44FEAB-E80B-4ECE-9B4C-FD15ED49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33800"/>
            <a:ext cx="1676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325"/>
          </a:solidFill>
          <a:ln xmlns:a="http://schemas.openxmlformats.org/drawingml/2006/main" w="0">
            <a:solidFill>
              <a:srgbClr val="0B132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14D1E-CFF2-4007-B31C-0E89BE09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76675"/>
            <a:ext cx="167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5D2D1F-713B-4CED-8601-CC0E5BB5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733800"/>
            <a:ext cx="83820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407C6A-24DD-46EC-B1FB-8CBC9455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76675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62E8BA-F983-4A63-B77D-5C59525F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24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Dài hạn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8F746D-1339-4A6B-B901-AD98ADB2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62865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D16327-F344-43DE-9C42-0DE58B63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52975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7BBF11-A55D-46BC-BF1B-ABFB4075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10100"/>
            <a:ext cx="2933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325"/>
          </a:solidFill>
          <a:ln xmlns:a="http://schemas.openxmlformats.org/drawingml/2006/main" w="0">
            <a:solidFill>
              <a:srgbClr val="0B132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53679C-12B6-445B-9253-11B9FDD1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752975"/>
            <a:ext cx="293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858C06-B226-452D-BF70-FDA019F2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10100"/>
            <a:ext cx="628650" cy="4953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20C49D-56F0-498C-87D9-DE958ACB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52975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84F505-CBEA-43BD-8A7C-A66EF6D3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00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C = Σ w′ × 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F38F5C-6887-494B-8E4A-A0AB87F5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388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Confidence là điểm nội bộ, không phải xác suất sinh lời.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2BACF8-07EB-4495-B618-D03951B9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5029200" cy="40576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8F8F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426562-EF92-43BD-AA95-100390C9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955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0,55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E80EF0-7C0E-49E6-87E0-780A5491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336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ngưỡng confidence tối thiểu</a:t>
            </a:r>
          </a:p>
        </p:txBody>
      </p:sp>
      <p:cxnSp>
        <p:nvCxnSpPr>
          <p:cNvPr id="85" name=""/>
          <p:cNvCxnSpPr/>
          <p:nvPr/>
        </p:nvCxnSpPr>
        <p:spPr>
          <a:xfrm xmlns:a="http://schemas.openxmlformats.org/drawingml/2006/main">
            <a:off x="7029450" y="2914650"/>
            <a:ext cx="4286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6A06D9-0B38-4F6B-905C-67498804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813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Buy bị hạ thành Wait khi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9B9C78-A256-409A-A230-1F097553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CE6197-2EDA-4A42-85E6-AB379344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766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Điểm kỹ thuật dưới 60% số chỉ báo bật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591200-D6EE-4DE1-99F7-89525089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48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7CE043-CE47-4EDF-91F2-DE7F1C89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719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Fundamental = weak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B363DA-9E71-4E3B-BD50-F65C261B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67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46BA4C-AAAC-4537-9F54-53744580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910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News = negative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4EF237-463A-46C0-9511-E2CCCA7B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86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1E2F1A8-7755-44B0-8153-5083BEF8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0101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Confidence &lt; 0,55</a:t>
            </a:r>
          </a:p>
        </p:txBody>
      </p:sp>
    </p:spTree>
    <p:extLst>
      <p:ext uri="{BB962C8B-B14F-4D97-AF65-F5344CB8AC3E}">
        <p14:creationId xmlns:p14="http://schemas.microsoft.com/office/powerpoint/2010/main" val="7835085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A8EDD4-9F5D-4125-B7D5-E2FBE03A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ĐÁNH GIÁ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FDCD63-CB36-481D-920B-BDB9D438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Backtesting tái sử dụng logic production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F0FC3-8443-4803-A710-BFB6E186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919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A919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FBC95-B496-43F7-9950-A5307988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Mục tiêu là đo tác động của lớp agentic so với baseline, không xây một chiến lược nghiên cứu tách rời sản phẩm.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819150" y="2095500"/>
            <a:ext cx="0" cy="3238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CDD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48243-2ED0-4E05-922C-BF221BCC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73A813-EAE0-4257-A1A2-E3E1FABF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BA851-1778-4F68-8D93-97E29645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F43E86-03B8-4834-A936-AB9200F8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570967-19A3-48A8-B95F-89986526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3B8356-7BB1-4FA7-ADB5-0F5E25F1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Parity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C5FF8-2E9B-4B28-8697-64A946B7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621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Vectorized engine khớp 100% với production scoring trên mẫu kiểm tra.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133EC-7A73-4CCF-A4DD-1598F2DF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Tín hiệu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46EFF9-F5B3-4EEC-8640-29070F90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479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Điểm vượt ngưỡng từ dưới lên; dữ liệu lịch sử không dùng giá tương lai.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644E2-A7E4-4926-8AAA-B2773E67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Mô phỏng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0BDE5-AA05-4200-8509-2839DEFB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337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Vào lệnh ở open kế tiếp; phí 0,15% mỗi chiều; TP, SL hoặc timeout.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B722EB-2A01-4F72-BD7B-2D843E73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So sánh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11AC08-61B8-4CD0-A75C-5C91A53E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195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Full pipeline, engine-only, buy-and-hold, 1.000 random-entry và ablation.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3BE64B-4342-47A1-990B-7E4AAE1C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Đo lường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2D01BF-01AA-4696-A706-B1BFA2CA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053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Return, win rate, drawdown, Sharpe, kiểm định, regime và walk-forward.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739AE-3FBD-40F1-9740-3F058AA2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657850"/>
            <a:ext cx="6000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FE9FF"/>
          </a:solidFill>
          <a:ln xmlns:a="http://schemas.openxmlformats.org/drawingml/2006/main" w="0">
            <a:solidFill>
              <a:srgbClr val="EFE9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0B81A-FAB0-4B98-A097-1B9B64A0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97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30 mã VN30 · Ablation 01/2023-12/2025 · Long-only · Daily bars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D03054-1C70-4D8B-AC9F-10D68163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9750"/>
            <a:ext cx="4800600" cy="3752850"/>
          </a:xfrm>
          <a:prstGeom xmlns:a="http://schemas.openxmlformats.org/drawingml/2006/main" prst="roundRect">
            <a:avLst>
              <a:gd name="adj" fmla="val 3046"/>
            </a:avLst>
          </a:prstGeom>
          <a:solidFill xmlns:a="http://schemas.openxmlformats.org/drawingml/2006/main">
            <a:srgbClr val="0B1325"/>
          </a:solidFill>
          <a:ln xmlns:a="http://schemas.openxmlformats.org/drawingml/2006/main" w="0">
            <a:solidFill>
              <a:srgbClr val="0B132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c762c7c4c497d"/>
          <a:stretch xmlns:a="http://schemas.openxmlformats.org/drawingml/2006/main"/>
        </p:blipFill>
        <p:spPr>
          <a:xfrm xmlns:a="http://schemas.openxmlformats.org/drawingml/2006/main">
            <a:off x="6972300" y="2524125"/>
            <a:ext cx="4648200" cy="2324100"/>
          </a:xfrm>
          <a:prstGeom xmlns:a="http://schemas.openxmlformats.org/drawingml/2006/main" prst="roundRect">
            <a:avLst>
              <a:gd name="adj" fmla="val 3175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31163B-9002-4644-89F8-B7FFB1F2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7150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Dashboard quản trị lưu cấu hình, lịch sử giao dịch, chỉ số và biểu đồ để kiểm tra lại.</a:t>
            </a:r>
          </a:p>
        </p:txBody>
      </p:sp>
    </p:spTree>
    <p:extLst>
      <p:ext uri="{BB962C8B-B14F-4D97-AF65-F5344CB8AC3E}">
        <p14:creationId xmlns:p14="http://schemas.microsoft.com/office/powerpoint/2010/main" val="15532400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E85E52-8131-474E-A90D-0AD452AC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KIỂM THỬ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12A01-F168-4EC1-9B50-7C944E4D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Prototype vượt qua 108/108 test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7DB83-34ED-445C-9A4B-9E59851A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919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A919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4AEFB-B39F-41C2-B3DE-1B21D4CF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Kiểm thử bao phủ hành trình người dùng, tích hợp dịch vụ, hiệu năng, bảo mật, usability và thiết bị.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83886E-1E68-421E-8B1B-B295F82A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478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108/108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79846-2448-4324-9E58-9DF0A271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test case đạt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B482B3-5E43-43C5-894B-758AFD9C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Không còn lỗi critical hoặc high severity chưa xử lý.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3905250" y="1885950"/>
            <a:ext cx="0" cy="24003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124BE-515E-4572-B281-16EF4AB2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Full AI analysis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97B5F8-F8EE-4971-A7CD-33CD47B3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7,84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352B34-9B1B-4506-A6D5-75659998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908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trung bình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433F8-A9F1-4320-9BAE-2AC3AB8E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384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12,61 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39D9E-EA1D-4070-99C7-6CFDBA5A0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908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P95 &lt; 15 s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8858250" y="1885950"/>
            <a:ext cx="0" cy="24003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A80A7-CFA1-4463-B1AF-E444773D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43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Chatbot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E41E1-01DA-4F1D-B4DC-49E12DE6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4384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4,36 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5FD35-C594-4698-90EC-0311E66C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908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trung bình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30624-4042-442D-80E8-25189AD4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099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7,92 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2171BF-90F0-403E-85EC-62CCEBC5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8671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P95 &lt; 10 s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495300" y="46863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76F6B5-899C-44B6-B2E3-A5071867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058B6A-AA79-41CD-A268-741F000E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57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Functional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BCB46E-EF11-4A78-918C-78C9C27B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530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8C77BB-9663-4AEC-8F5F-077A8ED7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57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Integration/API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AF1051-26BA-4AB1-BB88-D6D978B6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530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F85DF-77F0-442F-BD20-1C71A024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57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Non-functional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B39506-3679-47E8-A731-A29739B9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9530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040DA9-9236-4F01-A234-7309072E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577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Compatibility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11D7A3-0344-43DB-8A7A-76ACF8DF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838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Android + iOS · VI + EN · light + dark · UAT có chuyên viên FPT Securities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12AB4E-28DF-4080-8DFC-593FD063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38800"/>
            <a:ext cx="3409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A919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A919D"/>
                </a:solidFill>
                <a:latin typeface="Arial"/>
                <a:ea typeface="Arial"/>
                <a:cs typeface="Arial"/>
              </a:rPr>
              <a:t>100% chỉ áp dụng cho bộ case và môi trường đã kiểm thử.</a:t>
            </a:r>
          </a:p>
        </p:txBody>
      </p:sp>
    </p:spTree>
    <p:extLst>
      <p:ext uri="{BB962C8B-B14F-4D97-AF65-F5344CB8AC3E}">
        <p14:creationId xmlns:p14="http://schemas.microsoft.com/office/powerpoint/2010/main" val="2880554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125CC-C9E5-49F3-9D86-6AA30E33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DAF05-D218-42A6-9B08-970468B4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Agentic layer giảm mức độ tham gia và drawdown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061BE-69A1-4405-912A-7F3E6F0E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919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A919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53DB2-90DA-4B21-A6C8-3EDE0272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Đổi lại, lợi nhuận trung bình và win rate thấp hơn engine-only.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A5868-4015-487A-BB84-E354C404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95450"/>
            <a:ext cx="60579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704850" y="1943100"/>
          <a:ext xmlns:a="http://schemas.openxmlformats.org/drawingml/2006/main" cx="563880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1b8c52d538480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03CC8-F749-4096-AE2D-FCF288CC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8A919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A919D"/>
                </a:solidFill>
                <a:latin typeface="Arial"/>
                <a:ea typeface="Arial"/>
                <a:cs typeface="Arial"/>
              </a:rPr>
              <a:t>Đơn vị: %; Max DD hiển thị theo độ lớn tuyệt đối.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036824-B140-4E49-B186-E606BB0F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9070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-41,6%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5D659-BE6A-4E86-BF78-EDAD86F1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81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giao dịch: 741 → 433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F479CB-32E6-4B94-ADC7-1B01D639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90700"/>
            <a:ext cx="2247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8A66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8A66A"/>
                </a:solidFill>
                <a:latin typeface="Arial"/>
                <a:ea typeface="Arial"/>
                <a:cs typeface="Arial"/>
              </a:rPr>
              <a:t>+9,03 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0D0C1-D465-4E45-9858-24F6672D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cải thiện mean max drawdown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7067550" y="3009900"/>
            <a:ext cx="4629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EB5E8-6FCB-4496-B0AA-DDF6C454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766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12/30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7160A-94C8-48B7-A4DF-E0567C35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10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mã vượt engine-only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EAACD-4823-4833-BEAE-B344159E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7660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D97706"/>
                </a:solidFill>
                <a:latin typeface="Arial"/>
                <a:ea typeface="Arial"/>
                <a:cs typeface="Arial"/>
              </a:rPr>
              <a:t>4/30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5F9007-D4E0-48A4-B3F9-F75A26DE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10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mã vượt buy-and-hold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8753C-F43E-4875-9496-A9C6B3E6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686300"/>
            <a:ext cx="46291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FE9FF"/>
          </a:solidFill>
          <a:ln xmlns:a="http://schemas.openxmlformats.org/drawingml/2006/main" w="0">
            <a:solidFill>
              <a:srgbClr val="EFE9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FA0C6-41F6-4BE6-8682-E5F89A03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958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Diễn giải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8B045-2800-4F4A-BC7A-02B31D81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2197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993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Lớp agentic phù hợp với vai trò bộ lọc phơi nhiễm thận trọng, chưa phải nguồn alpha rộng và ổn định.</a:t>
            </a:r>
          </a:p>
        </p:txBody>
      </p:sp>
    </p:spTree>
    <p:extLst>
      <p:ext uri="{BB962C8B-B14F-4D97-AF65-F5344CB8AC3E}">
        <p14:creationId xmlns:p14="http://schemas.microsoft.com/office/powerpoint/2010/main" val="5877943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80347-05BE-4B86-9493-3B2BDE1A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ĐỘ TIN CẬY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4D8AE5-6634-4E0E-8D01-E03DD9F8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Bằng chứng thống kê và robustness còn hạn chế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9CD3D-4057-4380-8B1D-D60E565C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919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A919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D2490-1B31-41E7-920D-8832E914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Các tín hiệu tích cực chưa ổn định qua mã, confidence, thời gian và chế độ thị trường.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6096000" y="1885950"/>
            <a:ext cx="0" cy="3714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cxnSp>
        <p:nvCxnSpPr>
          <p:cNvPr id="22" name=""/>
          <p:cNvCxnSpPr/>
          <p:nvPr/>
        </p:nvCxnSpPr>
        <p:spPr>
          <a:xfrm xmlns:a="http://schemas.openxmlformats.org/drawingml/2006/main">
            <a:off x="495300" y="37528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AA6A0-58F5-4B98-8904-41133818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3/30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3FE4F-DA23-4C00-A06F-8E628A1E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one-sample t-tests có ý nghĩa ở mức 5%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DBBFE-A1A8-4D6C-8ADA-9C2C26A3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0,032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1CE71-9657-4423-8F88-4387ACD8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median score-return IC; chỉ 1 mã có ý nghĩa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14CDA9-536C-46E6-B657-DEB25863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2,00% vs 1,96%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625D3-B6B8-4970-8001-7EFAF2B4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mean return nhóm confidence cao và trung gần như tương đương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04667-6AA8-412D-B3F3-DF56811EA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005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B285D-1444-4E70-B99A-F5AE4404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815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giao dịch trong downtrend; walk-forward profitable windows trung bình 19,52%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AEDFE6-680D-46BD-8451-1BB36721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91200"/>
            <a:ext cx="112014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3E4"/>
          </a:solidFill>
          <a:ln xmlns:a="http://schemas.openxmlformats.org/drawingml/2006/main" w="0">
            <a:solidFill>
              <a:srgbClr val="FFF3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06B7E-3E0F-460B-AEC8-DD969539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97706"/>
                </a:solidFill>
                <a:latin typeface="Arial"/>
                <a:ea typeface="Arial"/>
                <a:cs typeface="Arial"/>
              </a:rPr>
              <a:t>Kết luận: thí nghiệm minh bạch và hữu ích để chẩn đoán, nhưng chưa thiết lập alpha đáng tin cậy hoặc confidence được hiệu chỉnh.</a:t>
            </a:r>
          </a:p>
        </p:txBody>
      </p:sp>
    </p:spTree>
    <p:extLst>
      <p:ext uri="{BB962C8B-B14F-4D97-AF65-F5344CB8AC3E}">
        <p14:creationId xmlns:p14="http://schemas.microsoft.com/office/powerpoint/2010/main" val="1780455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A1B0BD-14CC-457E-8379-FB0096E7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ĐÓNG GÓP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4BEDD-04F2-4897-A8EB-D96889A9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Hai mục tiêu đạt đáng kể; dữ liệu còn dang dở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117B5-4E99-45EC-8630-4CDCFD33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919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A919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FEC7A-C0E6-41B0-93FC-0ACDA6EC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316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Mức độ hoàn thành phản ánh cả sản phẩm đã chạy và những điều kiện còn thiếu để trở thành nền tảng nghiên cứu tái lập.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F8ACB-FC0E-489E-B62F-7E18D58F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812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O1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B4328-3A96-4494-AB37-3231084B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solidFill>
              <a:srgbClr val="E8F7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A508B8-8EE0-4497-87EE-E657CC0A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8A6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8A66A"/>
                </a:solidFill>
                <a:latin typeface="Arial"/>
                <a:ea typeface="Arial"/>
                <a:cs typeface="Arial"/>
              </a:rPr>
              <a:t>Substantially achieved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5D506-5FB8-4799-9D12-36A0CC20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766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Decision-support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8877A-BE41-44E7-B3C6-04726A9E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14800"/>
            <a:ext cx="323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Ứng dụng mobile, backend, market/news/fundamental, configurable analysis và chatbot.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4076700" y="1905000"/>
            <a:ext cx="0" cy="3810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DF995-D965-4022-8231-316DB509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812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O2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1E282-AC53-4546-92F0-9513B01A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0"/>
          </a:solidFill>
          <a:ln xmlns:a="http://schemas.openxmlformats.org/drawingml/2006/main" w="0">
            <a:solidFill>
              <a:srgbClr val="E8F7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FF2A3-A140-42D5-8BB2-9C11FE10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5272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8A66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8A66A"/>
                </a:solidFill>
                <a:latin typeface="Arial"/>
                <a:ea typeface="Arial"/>
                <a:cs typeface="Arial"/>
              </a:rPr>
              <a:t>Substantially achieved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6476B-D65D-424B-ACD5-A377C210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766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Backtesting framework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6625D9-EB3C-4DE2-98B1-0B08963E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14800"/>
            <a:ext cx="323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Production-aligned scoring, parity, baselines, costs, risk metrics và experiment artifacts.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7886700" y="1905000"/>
            <a:ext cx="0" cy="3810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1BCE9E-4E2D-4E66-BAE8-B8A7152A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81200"/>
            <a:ext cx="81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O3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CF97D-A8EF-4FE1-9C5F-2C6D3E55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1476375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E4"/>
          </a:solidFill>
          <a:ln xmlns:a="http://schemas.openxmlformats.org/drawingml/2006/main" w="0">
            <a:solidFill>
              <a:srgbClr val="FFF3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9282CA-0716-4060-AAB2-184930D9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5272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97706"/>
                </a:solidFill>
                <a:latin typeface="Arial"/>
                <a:ea typeface="Arial"/>
                <a:cs typeface="Arial"/>
              </a:rPr>
              <a:t>Partially achieved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5C620B-322D-4967-A0F0-9322DBFD7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76600"/>
            <a:ext cx="323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Research-ready dataset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AD4958-8835-46CF-8E45-97E50265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14800"/>
            <a:ext cx="323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Đã có schema và pipeline; còn thiếu versioned release, licensing và point-in-time metadata.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495300" y="586740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807CF-C1A1-4FE7-A209-37265B42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57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Đóng góp xuyên suốt: tích hợp dữ liệu dị thể, workflow hybrid có thể kiểm tra và đánh giá lịch sử trung thực.</a:t>
            </a:r>
          </a:p>
        </p:txBody>
      </p:sp>
    </p:spTree>
    <p:extLst>
      <p:ext uri="{BB962C8B-B14F-4D97-AF65-F5344CB8AC3E}">
        <p14:creationId xmlns:p14="http://schemas.microsoft.com/office/powerpoint/2010/main" val="2211927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BBEE1E-F59C-4F13-A0D4-56793400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7C3AED"/>
                </a:solidFill>
                <a:latin typeface="Arial"/>
                <a:ea typeface="Arial"/>
                <a:cs typeface="Arial"/>
              </a:rPr>
              <a:t>HƯỚNG PHÁT TRIỂN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431CE-6B47-4780-B42E-D697D904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11201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Hạn chế hiện tại định hướng công việc tiếp theo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C3FB2C-FB23-4BA6-916C-EB44227F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3890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8A919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8A919D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B583D-EE38-40A4-AEE3-05690441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811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2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B6270"/>
                </a:solidFill>
                <a:latin typeface="Arial"/>
                <a:ea typeface="Arial"/>
                <a:cs typeface="Arial"/>
              </a:rPr>
              <a:t>Ưu tiên không chỉ là thêm mô hình, mà là nâng tính đúng thời điểm, tái lập và hiện thực của đánh giá.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CCEA5-B4A6-4066-98CF-7AF87A94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669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Rủi ro đối với tính hợp lệ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495300" y="2400300"/>
            <a:ext cx="4857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94452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A2E3DD-B4C2-4EF1-84D3-292051C6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6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452"/>
          </a:solidFill>
          <a:ln xmlns:a="http://schemas.openxmlformats.org/drawingml/2006/main" w="0">
            <a:solidFill>
              <a:srgbClr val="D9445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11BFA-BFFD-40A4-AD51-CF49503D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Fundamental chưa point-in-time; có nguy cơ look-ahead.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6B3F92-33BD-469B-848B-A44501D4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452"/>
          </a:solidFill>
          <a:ln xmlns:a="http://schemas.openxmlformats.org/drawingml/2006/main" w="0">
            <a:solidFill>
              <a:srgbClr val="D9445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F4C21-B7F1-421E-B740-31A59FA7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VN30 hiện tại tạo survivorship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1A2C3-1135-451D-A694-EFC51F73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43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452"/>
          </a:solidFill>
          <a:ln xmlns:a="http://schemas.openxmlformats.org/drawingml/2006/main" w="0">
            <a:solidFill>
              <a:srgbClr val="D9445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EA5F6F-9242-4F41-819D-F90C8FD1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Mẫu giao dịch, walk-forward và downtrend còn thưa.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C4375-7CB2-4CCA-AB11-9C170D86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452"/>
          </a:solidFill>
          <a:ln xmlns:a="http://schemas.openxmlformats.org/drawingml/2006/main" w="0">
            <a:solidFill>
              <a:srgbClr val="D9445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18D15-49EE-4589-95F2-5BD52DAFD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Execution model chưa có shared capital, liquidity, slippage và partial fill.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F873C-0955-4F2B-B6BF-34D8DCAD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911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4452"/>
          </a:solidFill>
          <a:ln xmlns:a="http://schemas.openxmlformats.org/drawingml/2006/main" w="0">
            <a:solidFill>
              <a:srgbClr val="D9445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D527B-1030-486D-A295-91336716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Thiếu manifest chung cho model, prompt, data snapshot và seed.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6000750" y="1809750"/>
            <a:ext cx="0" cy="41719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E1DF9-A423-4E66-9F14-C7AC90CB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669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Ưu tiên tiếp theo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438900" y="2400300"/>
            <a:ext cx="48577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8A66A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B9192D-6257-4E4C-8E56-391A527C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18A6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F41C1F-B725-46ED-87A6-AFDD74A2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860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Versioned point-in-time dataset và historical constituents.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19FFFE-80D6-47A7-BF09-499BE89F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18A6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F7FC70-4BAF-41B0-B441-E1C73FAA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147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Immutable run manifest, pinned model/prompt và cached output.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A60648-1FC3-48F5-A5D3-27B0BC59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18A66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D956BC-D67F-4EC0-B87B-E942B093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624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Portfolio simulator với cash, position sizing, gaps và price-limit.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AFE22F-D6D2-4AF9-ADC6-A5B33572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18A6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F8E3A6-CA67-4B76-A7C9-FD4FC61A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291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Grounding tới candle/report/article và calibrate confidence bằng forward outcome.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810A27-D239-4469-B22C-60DDB7F8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05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66A"/>
          </a:solidFill>
          <a:ln xmlns:a="http://schemas.openxmlformats.org/drawingml/2006/main" w="0">
            <a:solidFill>
              <a:srgbClr val="18A66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46C4CA-E45F-43A2-AA14-B227BB46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29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31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318"/>
                </a:solidFill>
                <a:latin typeface="Arial"/>
                <a:ea typeface="Arial"/>
                <a:cs typeface="Arial"/>
              </a:rPr>
              <a:t>Automated CI tests, monitoring, security và nghiên cứu người dùng.</a:t>
            </a:r>
          </a:p>
        </p:txBody>
      </p:sp>
    </p:spTree>
    <p:extLst>
      <p:ext uri="{BB962C8B-B14F-4D97-AF65-F5344CB8AC3E}">
        <p14:creationId xmlns:p14="http://schemas.microsoft.com/office/powerpoint/2010/main" val="7260201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DB618-58B1-4E61-8664-203B9890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B7B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9B7BFF"/>
                </a:solidFill>
                <a:latin typeface="Arial"/>
                <a:ea typeface="Arial"/>
                <a:cs typeface="Arial"/>
              </a:rPr>
              <a:t>KẾT LUẬN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07168-CAF1-4CD9-8D07-40D89429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366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Đóng góp mạnh nhất của Stockrium không phải là lợi nhuận vượt trội.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655D8-1583-46DD-AF5F-043F9EFF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1019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147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9B7BF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9B7BFF"/>
                </a:solidFill>
                <a:latin typeface="Arial"/>
                <a:ea typeface="Arial"/>
                <a:cs typeface="Arial"/>
              </a:rPr>
              <a:t>Đó là một môi trường tích hợp, giải thích được và có thể kiểm thử.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552450" y="3981450"/>
            <a:ext cx="11049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34155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EB0D3-A17A-4D18-B1F4-52993ACE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B7B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9B7B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D42A9-8562-4B4F-8C69-F5316184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24350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Tổ chức ba nguồn bằng chứng trong một trải nghiệm thống nhất.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24571-CB42-468A-9221-E9D94DD8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B7B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9B7B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520CE-4FD7-425D-BA66-4BC253B3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243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Agentic layer lọc phơi nhiễm và giảm drawdown, nhưng chưa chứng minh alpha.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37895-1464-4530-A1CF-94F3E148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624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9B7B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9B7B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D3063-CEB3-4B98-9556-5876916C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243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Bước tiếp theo là dữ liệu point-in-time và đánh giá tái lập, hiện thực hơn.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FE318B-2F55-4CA4-907D-5A793F34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674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A22BF-BAC9-486C-AAE4-B3604B13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0960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94A3B8"/>
                </a:solidFill>
                <a:latin typeface="Arial"/>
                <a:ea typeface="Arial"/>
                <a:cs typeface="Arial"/>
              </a:rPr>
              <a:t>Le Quoc Huy · Nguyen Vinh Khang</a:t>
            </a:r>
          </a:p>
        </p:txBody>
      </p:sp>
    </p:spTree>
    <p:extLst>
      <p:ext uri="{BB962C8B-B14F-4D97-AF65-F5344CB8AC3E}">
        <p14:creationId xmlns:p14="http://schemas.microsoft.com/office/powerpoint/2010/main" val="913782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2026-07-16T16:30:05.7770000Z</dcterms:created>
  <dcterms:modified xsi:type="dcterms:W3CDTF">2026-07-16T16:30:05.7770000Z</dcterms:modified>
</coreProperties>
</file>